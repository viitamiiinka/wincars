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oundRect">
            <a:avLst>
              <a:gd name="adj" fmla="val 20000"/>
            </a:avLst>
          </a:prstGeom>
          <a:solidFill>
            <a:srgbClr val="FFD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WINCARS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548640"/>
            <a:ext cx="1280160" cy="384048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64992" y="640080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12112" y="640080"/>
            <a:ext cx="185623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ДЛЯ НОВЫХ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Inter"/>
              </a:rPr>
              <a:t>Привет!
Добро пожаловать
в команду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2A00"/>
                </a:solidFill>
                <a:latin typeface="Inter"/>
              </a:rPr>
              <a:t>Этот документ — твой главный проводник по нашей атмосфере,
правилам и внутреннему коду Wincars. Пристегни ремни, погнали!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046720"/>
            <a:ext cx="17007840" cy="127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8229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2A00"/>
                </a:solidFill>
                <a:latin typeface="Inter"/>
              </a:rPr>
              <a:t>КОМПАНИЯ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549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Wincars Sp. z o.o.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8229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2A00"/>
                </a:solidFill>
                <a:latin typeface="Inter"/>
              </a:rPr>
              <a:t>ОСНОВАНО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8549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2022 год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0" y="8229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2A00"/>
                </a:solidFill>
                <a:latin typeface="Inter"/>
              </a:rPr>
              <a:t>ГЕОГРАФИЯ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0" y="8549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Inter"/>
              </a:rPr>
              <a:t>Польша · Болгария · Румыния · Молдова · Сальвадор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Inter"/>
              </a:rPr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CD11"/>
                </a:solidFill>
                <a:latin typeface="Inter"/>
              </a:rPr>
              <a:t>онбординга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548640"/>
            <a:ext cx="10149840" cy="914400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118872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Кто мы такие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0" y="1143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9326880" cy="127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56032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4688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Ценности Wincars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0" y="2514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017520"/>
            <a:ext cx="9326880" cy="127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3931919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84047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Условия и соцпакет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0" y="388619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389119"/>
            <a:ext cx="9326880" cy="127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30352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52120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Первый месяц: Тест-драйв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0" y="5257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760720"/>
            <a:ext cx="9326880" cy="127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667512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83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Ритм, дисциплина и вайб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0" y="6629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7132320"/>
            <a:ext cx="9326880" cy="1270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804672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SECTION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79552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Команда и структура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0" y="8001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66666"/>
                </a:solidFill>
                <a:latin typeface="Inter"/>
              </a:rPr>
              <a:t>(06)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Кто мы
такие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Wincars — международная компания, основанная в 2022 году. Мы импортируем автомобили из США, Канады и Южной Кореи и строим команду, которой гордимся.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О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CD11"/>
                </a:solidFill>
                <a:latin typeface="Inter"/>
              </a:rPr>
              <a:t>Мы меняем правила игры
на вторичном рынке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4949"/>
                </a:solidFill>
                <a:latin typeface="Inter"/>
              </a:rPr>
              <a:t>Wincars — международная компания, основанная в 2022 году, которая занимается импортом автомобилей из США, Канады и Южной Кореи. Мы активно растём и развиваемся, открывая филиалы по всему миру.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4949"/>
                </a:solidFill>
                <a:latin typeface="Inter"/>
              </a:rPr>
              <a:t>Наша цель — стереть границу между покупкой б/у авто и выездом из премиального автосалона, окружая каждого клиента безупречным сервисом и заботой.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640080"/>
            <a:ext cx="8595360" cy="210312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0" y="1097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Inter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Inter"/>
              </a:rPr>
              <a:t>год основания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2971800"/>
            <a:ext cx="8595360" cy="210312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0" y="3429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Inter"/>
              </a:rPr>
              <a:t>5 стран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Inter"/>
              </a:rPr>
              <a:t>с филиалами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5303520"/>
            <a:ext cx="8595360" cy="210312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0" y="5760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Inter"/>
              </a:rPr>
              <a:t>3 офиса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6675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Inter"/>
              </a:rPr>
              <a:t>в Варшаве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7635240"/>
            <a:ext cx="8595360" cy="210312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0" y="8092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Inter"/>
              </a:rPr>
              <a:t>USA / CA /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0" y="9006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2200"/>
                </a:solidFill>
                <a:latin typeface="Inter"/>
              </a:rPr>
              <a:t>источники авто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Ценности
Wincars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Мы не просто доставляем автомобили. Мы создаём компанию, которой гордимся — и вот столпы, на которых держится всё, что мы делаем.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786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НАША ДНК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Inter"/>
              </a:rPr>
              <a:t>Пять принципов, на которых держится Wincars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577840" cy="320040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(01)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Открытость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Работаем честно и «в белую». Все условия и тарифы абсолютно прозрачны. Платим налоги и выполняем обязательства.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103120"/>
            <a:ext cx="5577840" cy="320040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Inter"/>
              </a:rPr>
              <a:t>(02)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Постоянное развитие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Wincars всегда в движении. Внедряем новые решения, учимся у лучших и поддерживаем тех, кто предлагает и пробует.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0" y="2103120"/>
            <a:ext cx="5577840" cy="320040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Inter"/>
              </a:rPr>
              <a:t>(03)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Клиент в центре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Создаём сервис, который хочется рекомендовать друзьям. Думаем о деталях и стремимся превзойти ожидания.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8366760" cy="320040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7818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5500"/>
                </a:solidFill>
                <a:latin typeface="Inter"/>
              </a:rPr>
              <a:t>(04)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995160"/>
            <a:ext cx="7818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Inter"/>
              </a:rPr>
              <a:t>Командный дух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452360"/>
            <a:ext cx="7818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00"/>
                </a:solidFill>
                <a:latin typeface="Inter"/>
              </a:rPr>
              <a:t>У каждого своя зона ответственности, но за спиной всегда команда, готовая помочь. Ценим умение играть вместе.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440680"/>
            <a:ext cx="8641080" cy="320040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5715000"/>
            <a:ext cx="8092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(05)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995160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Проактивность и креативность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7452360"/>
            <a:ext cx="8092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Мы не ждём, пока мир изменится — мы меняем его сами. Видишь, как сделать лучше — предлагай и создавай!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Условия
и соцпакет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Заботимся о том, чтобы тебе было максимально комфортно: официальное оформление, оплачиваемый отпуск, полное техническое обеспечение и прозрачная мотивация.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11155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ТВОИ УСЛОВИЯ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Inter"/>
              </a:rPr>
              <a:t>Комфорт, стабильность и забота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88696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8321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Inter"/>
              </a:rPr>
              <a:t>(01) 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Защищённость и стабильность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Официальное оформление, полностью оплачиваемый отпуск и больничный. Отпуск — это святое, мы всегда даём отдохнуть.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46920" y="2103120"/>
            <a:ext cx="88696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2377440"/>
            <a:ext cx="8321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Inter"/>
              </a:rPr>
              <a:t>(02) 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40233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Полное обеспечение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448056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Предоставляем весь необходимый инструмент — корпоративный компьютер, мобильный телефон, а также стильный фирменный мерч компании.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06440"/>
            <a:ext cx="4297680" cy="329184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3749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5500"/>
                </a:solidFill>
                <a:latin typeface="Inter"/>
              </a:rPr>
              <a:t>(04)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452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Inter"/>
              </a:rPr>
              <a:t>Локация — 3 офиса в Варшаве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90956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00"/>
                </a:solidFill>
                <a:latin typeface="Inter"/>
              </a:rPr>
              <a:t>Wola al. Solidarności 163; Mokotów Fort Piłsudskiego 26; Mokotów Fort Piłsudskiego 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5806440"/>
            <a:ext cx="4297680" cy="329184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6080760"/>
            <a:ext cx="3749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(04)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7452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График работы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790956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Понедельник – пятница, с 10:00 до 18:00. Будь готов, что клиенты могут звонить до и после 18:00.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5806440"/>
            <a:ext cx="4297680" cy="329184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6080760"/>
            <a:ext cx="3749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(05)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7452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Забота в офисе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790956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Вкусный кофе, чай и сладости всегда в твоём распоряжении.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44600" y="5806440"/>
            <a:ext cx="4297680" cy="329184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18920" y="6080760"/>
            <a:ext cx="3749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(06)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18920" y="7452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Система мотивации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18920" y="790956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Прозрачная система мотивации и дополнительные бонусы за отличные результаты.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Первый месяц:
тест-драйв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Испытательный срок длится 1 месяц — время, чтобы мы присмотрелись друг к другу, а ты понял, что Wincars — это твоё место силы.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16093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ИСПЫТАТЕЛЬНЫЙ СРОК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EEEEE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Inter"/>
              </a:rPr>
              <a:t>МЕСЯЦ — ТВОЙ ТЕСТ-ДРАЙВ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5577840" cy="5943600"/>
          </a:xfrm>
          <a:prstGeom prst="roundRect">
            <a:avLst>
              <a:gd name="adj" fmla="val 20000"/>
            </a:avLst>
          </a:prstGeom>
          <a:solidFill>
            <a:srgbClr val="18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5486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Inter"/>
              </a:rPr>
              <a:t>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030"/>
                </a:solidFill>
                <a:latin typeface="Inter"/>
              </a:rPr>
              <a:t>(01)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8869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ter"/>
              </a:rPr>
              <a:t>Тест в деле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657600"/>
            <a:ext cx="5577840" cy="594360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5500"/>
                </a:solidFill>
                <a:latin typeface="Inter"/>
              </a:rPr>
              <a:t>(02)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7589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Inter"/>
              </a:rPr>
              <a:t>Первые две недели —
обучение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8503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00"/>
                </a:solidFill>
                <a:latin typeface="Inter"/>
              </a:rPr>
              <a:t>Время активного погружения. Ты будешь плотно учиться у коллег и получишь нашу фирменную методичку — выжимку важных знаний, процессов и лайфхаков.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0" y="3657600"/>
            <a:ext cx="5577840" cy="594360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Inter"/>
              </a:rPr>
              <a:t>(03)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7589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Inter"/>
              </a:rPr>
              <a:t>Юридическая безопасность — 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8503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После успешного прохождения испытательного срока ты получишь на подпись документ о неразглашении (NDA). Так мы юридически защищаем коммерческие данные компании.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Ритм,
дисциплина
и вайб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Чтобы вся система Wincars работала как швейцарские часы, мы придерживаемся простых правил — и умеем отдыхать на максималках.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21854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РИТМ И КОРПОРАТИВНЫЙ ВАЙБ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Inter"/>
              </a:rPr>
              <a:t>Работаем чётко. Отдыхаем на полную.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577840" cy="329184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5500"/>
                </a:solidFill>
                <a:latin typeface="Inter"/>
              </a:rPr>
              <a:t>(01)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Inter"/>
              </a:rPr>
              <a:t>Пунктуальность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00"/>
                </a:solidFill>
                <a:latin typeface="Inter"/>
              </a:rPr>
              <a:t>Опоздания без предупреждения лидера заранее — недопустимы. Мы глубоко ценим время друг друга.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103120"/>
            <a:ext cx="5577840" cy="3291840"/>
          </a:xfrm>
          <a:prstGeom prst="roundRect">
            <a:avLst>
              <a:gd name="adj" fmla="val 20000"/>
            </a:avLst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(02)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Старт дня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Каждое утро начинается с общего сбора команды: планёрка и обязательная зарядка — заряжаем тело и мозг.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0" y="2103120"/>
            <a:ext cx="5577840" cy="3291840"/>
          </a:xfrm>
          <a:prstGeom prst="roundRect">
            <a:avLst>
              <a:gd name="adj" fmla="val 20000"/>
            </a:avLst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0" y="2377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(03)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Перезагрузка в обед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Настольный теннис и PlayStation прямо в офисе. Присоединяйся к баттлам!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5577840" cy="3291840"/>
          </a:xfrm>
          <a:prstGeom prst="roundRect">
            <a:avLst>
              <a:gd name="adj" fmla="val 20000"/>
            </a:avLst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Inter"/>
              </a:rPr>
              <a:t>(04)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178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Питание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635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Когда вся команда выполняет недельный план — бесплатные обеды за счёт компании.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5532120"/>
            <a:ext cx="11475720" cy="329184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806440"/>
            <a:ext cx="10927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5500"/>
                </a:solidFill>
                <a:latin typeface="Inter"/>
              </a:rPr>
              <a:t>(05)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717804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Inter"/>
              </a:rPr>
              <a:t>Развлечения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7635240"/>
            <a:ext cx="10927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00"/>
                </a:solidFill>
                <a:latin typeface="Inter"/>
              </a:rPr>
              <a:t>За крутые результаты — дрифт, пейнтбол, барбекю, поездки на Мазуры или в Закопане, посещение выставок и событий.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1828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Команда
и порядок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0" y="71323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Inter"/>
              </a:rPr>
              <a:t>В Wincars нет глухих стен — мы все общаемся на «ты». А ещё наш офис — это наш второй дом, поэтому порядок и чистота важны для каждого из нас.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94360"/>
            <a:ext cx="11155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КТО ЕСТЬ КТО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0" y="365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Inter"/>
              </a:rPr>
              <a:t>© 2026 WINCARS. ВСЕ ПРАВА ЗАЩИЩЕНЫ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D11"/>
                </a:solidFill>
                <a:latin typeface="Inter"/>
              </a:rPr>
              <a:t>Люди, с которыми ты будешь постоянно пересекаться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Inter"/>
              </a:rPr>
              <a:t>👤  Твой Лидер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Главный ментор, наставник и первый человек, к которому идти с любым вопросом.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10312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Inter"/>
              </a:rPr>
              <a:t>👤  Ваня —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29184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Руководитель компании, определяющий глобальную стратегию развития Wincars и подписывающий ключевые документы.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10312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4688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Inter"/>
              </a:rPr>
              <a:t>👤  Женя — маркетинг-директор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9184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Отвечает за стратегию бренда, имидж компании, рекламу и привлечение клиентов.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0644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Inter"/>
              </a:rPr>
              <a:t>👤  Лиза — SMM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9951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4949"/>
                </a:solidFill>
                <a:latin typeface="Inter"/>
              </a:rPr>
              <a:t>Ведёт социальные сети компании, создаёт яркий контент и общается с аудиторией бренда.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580644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617220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👤  Дима — афтер-сейл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69951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Заботится о клиентах после сделки, решает спорные моменты и собирает отзывы о работе.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5806440"/>
            <a:ext cx="4069080" cy="3566160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617220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👥  Команда менеджеров по продажам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995160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Inter"/>
              </a:rPr>
              <a:t>Твои дружелюбные коллеги, всегда готовые подсказать по рабочим процессам и офисному быту.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0" y="2103120"/>
            <a:ext cx="4983480" cy="7269480"/>
          </a:xfrm>
          <a:prstGeom prst="roundRect">
            <a:avLst>
              <a:gd name="adj" fmla="val 20000"/>
            </a:avLst>
          </a:prstGeom>
          <a:solidFill>
            <a:srgbClr val="FFC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0" y="2377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Inter"/>
              </a:rPr>
              <a:t>Чистота и уважение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3200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Бережливость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0" y="3657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2A00"/>
                </a:solidFill>
                <a:latin typeface="Inter"/>
              </a:rPr>
              <a:t>Аккуратно относимся к вещам компании — от рабочего стола до общих зон.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0" y="5303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Чистота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5760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2A00"/>
                </a:solidFill>
                <a:latin typeface="Inter"/>
              </a:rPr>
              <a:t>Есть очередь на дежурство в офисе, но каждый поддерживает порядок на своём уровне.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406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Inter"/>
              </a:rPr>
              <a:t>Библиотека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7863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2A00"/>
                </a:solidFill>
                <a:latin typeface="Inter"/>
              </a:rPr>
              <a:t>Крутая внутренняя библиотека для развития. Не держи книгу дольше недели — она нужна другим.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oundRect">
            <a:avLst>
              <a:gd name="adj" fmla="val 20000"/>
            </a:avLst>
          </a:prstGeom>
          <a:solidFill>
            <a:srgbClr val="FFD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Inter"/>
              </a:rPr>
              <a:t>WINCARS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548640"/>
            <a:ext cx="1280160" cy="384048"/>
          </a:xfrm>
          <a:prstGeom prst="roundRect">
            <a:avLst>
              <a:gd name="adj" fmla="val 20000"/>
            </a:avLst>
          </a:prstGeom>
          <a:solidFill>
            <a:srgbClr val="0F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64992" y="640080"/>
            <a:ext cx="950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80592" y="64008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Inter"/>
              </a:rPr>
              <a:t>ДОБРО ПОЖАЛОВАТЬ НА БОРТ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645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0" b="1" i="0">
                <a:solidFill>
                  <a:srgbClr val="000000"/>
                </a:solidFill>
                <a:latin typeface="Inter"/>
              </a:rPr>
              <a:t>Ты готов?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58368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2A00"/>
                </a:solidFill>
                <a:latin typeface="Inter"/>
              </a:rPr>
              <a:t>Мы верим, что у тебя всё получится, и ты быстро станешь своим.
Добро пожаловать на борт Wincars — погнали!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738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4400"/>
                </a:solidFill>
                <a:latin typeface="Inter"/>
              </a:rPr>
              <a:t>© 2026 WINCARS. ВСЕ ПРАВА ЗАЩИЩЕНЫ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